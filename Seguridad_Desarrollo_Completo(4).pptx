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828800" cy="182880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7889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71800" y="2148840"/>
            <a:ext cx="8503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en el</a:t>
            </a:r>
            <a:endParaRPr lang="en-US" sz="4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de Software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3017520" y="38404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análisis</a:t>
            </a:r>
            <a:pPr algn="l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+   </a:t>
            </a:r>
            <a:pPr algn="l" indent="0" marL="0">
              <a:buNone/>
            </a:pPr>
            <a:r>
              <a:rPr lang="en-US" sz="20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&amp; OAuth2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017520" y="4434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· Black Duck · Checkmarx · Spring Authorization Server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017520" y="5852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Orlando Ferreira Angon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68680" y="2834640"/>
            <a:ext cx="1463040" cy="146304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32004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0" y="27889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de Seguridad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Calidad de Código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788920" y="39776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· Black Duck · Checkmarx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hacen estas herramientas?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Revisan el software en busca de errores y vulnerabilidades de seguridad, de forma automática, antes de que el código llegue a producción.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77440"/>
            <a:ext cx="777240" cy="77724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578608"/>
            <a:ext cx="374904" cy="374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3774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Detectan fallos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74520" y="283464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Encuentran bugs y vulnerabilidades de seguridad en el código de forma temprana.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20574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377440"/>
            <a:ext cx="777240" cy="77724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578608"/>
            <a:ext cx="374904" cy="374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23774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Ayudan a cumplir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635240" y="283464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Facilitan el cumplimiento de estándares como OWASP Top 10, ISO 27001 y PCI-DSS.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2976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617720"/>
            <a:ext cx="777240" cy="777240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818888"/>
            <a:ext cx="374904" cy="374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6177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automatizan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874520" y="507492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integran al pipeline CI/CD y se ejecutan solas en cada build o cambio de código.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09360" y="42976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617720"/>
            <a:ext cx="777240" cy="77724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4818888"/>
            <a:ext cx="374904" cy="3749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46177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Mejoran la calidad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635240" y="507492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Reducen bugs, deuda técnica y riesgos en las dependencias del proyecto.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tipos de análisis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se dividen en dos categorías según qué analizan. No compiten: se complementan.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868680" cy="8686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368296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92024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Application Security Testing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38328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tu propio código fuente sin ejecutarlo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SQL Injection, XSS y el OWASP Top 10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cómo un dato malicioso recorre el código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SonarQube, Checkmarx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09360" y="182880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29400" y="2148840"/>
            <a:ext cx="868680" cy="86868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856" y="2368296"/>
            <a:ext cx="429768" cy="4297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096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768096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Composition Analysis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675120" y="338328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las librerías y dependencias externas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CVEs conocidos en componentes open source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licencias y riesgos de cadena de suministro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 Black Duck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tipos de análisis de seguridad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SAST, SCA y DAST son los principales, pero hay más. Cada uno cubre una parte distinta del ciclo.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84832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8483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377440" y="206654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App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7614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tu código fuente sin ejecutarlo.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3063240" cy="594360"/>
          </a:xfrm>
          <a:prstGeom prst="roundRect">
            <a:avLst>
              <a:gd name="adj" fmla="val 7692"/>
            </a:avLst>
          </a:prstGeom>
          <a:solidFill>
            <a:srgbClr val="0A0E1A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3291840"/>
            <a:ext cx="2843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"..."+ user;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SQL Injection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480560" y="18288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084832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08483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206654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Analysis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27614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dependencias y librerías.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246120"/>
            <a:ext cx="3063240" cy="594360"/>
          </a:xfrm>
          <a:prstGeom prst="roundRect">
            <a:avLst>
              <a:gd name="adj" fmla="val 7692"/>
            </a:avLst>
          </a:prstGeom>
          <a:solidFill>
            <a:srgbClr val="0A0E1A"/>
          </a:solidFill>
          <a:ln/>
        </p:spPr>
      </p:sp>
      <p:sp>
        <p:nvSpPr>
          <p:cNvPr id="17" name="Text 15"/>
          <p:cNvSpPr/>
          <p:nvPr/>
        </p:nvSpPr>
        <p:spPr>
          <a:xfrm>
            <a:off x="4864608" y="3291840"/>
            <a:ext cx="2843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log4j-core 2.14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CVE-2021-44228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412480" y="18288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0" y="2084832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0" y="208483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241280" y="206654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App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732520" y="27614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la app corriendo, desde fuera.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686800" y="3246120"/>
            <a:ext cx="3063240" cy="594360"/>
          </a:xfrm>
          <a:prstGeom prst="roundRect">
            <a:avLst>
              <a:gd name="adj" fmla="val 7692"/>
            </a:avLst>
          </a:prstGeom>
          <a:solidFill>
            <a:srgbClr val="0A0E1A"/>
          </a:solidFill>
          <a:ln/>
        </p:spPr>
      </p:sp>
      <p:sp>
        <p:nvSpPr>
          <p:cNvPr id="24" name="Text 22"/>
          <p:cNvSpPr/>
          <p:nvPr/>
        </p:nvSpPr>
        <p:spPr>
          <a:xfrm>
            <a:off x="8796528" y="3291840"/>
            <a:ext cx="2843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/?q=&lt;script&gt;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XSS reflejado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425196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" y="4507992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5079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377440" y="448970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App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" y="518464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corriendo, pero desde adentro.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" y="5669280"/>
            <a:ext cx="3063240" cy="594360"/>
          </a:xfrm>
          <a:prstGeom prst="roundRect">
            <a:avLst>
              <a:gd name="adj" fmla="val 7692"/>
            </a:avLst>
          </a:prstGeom>
          <a:solidFill>
            <a:srgbClr val="0A0E1A"/>
          </a:solidFill>
          <a:ln/>
        </p:spPr>
      </p:sp>
      <p:sp>
        <p:nvSpPr>
          <p:cNvPr id="31" name="Text 29"/>
          <p:cNvSpPr/>
          <p:nvPr/>
        </p:nvSpPr>
        <p:spPr>
          <a:xfrm>
            <a:off x="932688" y="5715000"/>
            <a:ext cx="2843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agente en runtime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traza el flujo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480560" y="425196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4507992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BBF24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45079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309360" y="448970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Code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518464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Terraform, Docker, Kubernetes.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54880" y="5669280"/>
            <a:ext cx="3063240" cy="594360"/>
          </a:xfrm>
          <a:prstGeom prst="roundRect">
            <a:avLst>
              <a:gd name="adj" fmla="val 7692"/>
            </a:avLst>
          </a:prstGeom>
          <a:solidFill>
            <a:srgbClr val="0A0E1A"/>
          </a:solidFill>
          <a:ln/>
        </p:spPr>
      </p:sp>
      <p:sp>
        <p:nvSpPr>
          <p:cNvPr id="38" name="Text 36"/>
          <p:cNvSpPr/>
          <p:nvPr/>
        </p:nvSpPr>
        <p:spPr>
          <a:xfrm>
            <a:off x="4864608" y="5715000"/>
            <a:ext cx="2843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root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contenedor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inseguro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412480" y="425196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472B6">
                <a:alpha val="5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686800" y="4507992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472B6"/>
          </a:solidFill>
          <a:ln/>
        </p:spPr>
      </p:sp>
      <p:sp>
        <p:nvSpPr>
          <p:cNvPr id="41" name="Text 39"/>
          <p:cNvSpPr/>
          <p:nvPr/>
        </p:nvSpPr>
        <p:spPr>
          <a:xfrm>
            <a:off x="8686800" y="45079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241280" y="448970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732520" y="518464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claves y API keys expuestas.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686800" y="5669280"/>
            <a:ext cx="3063240" cy="594360"/>
          </a:xfrm>
          <a:prstGeom prst="roundRect">
            <a:avLst>
              <a:gd name="adj" fmla="val 7692"/>
            </a:avLst>
          </a:prstGeom>
          <a:solidFill>
            <a:srgbClr val="0A0E1A"/>
          </a:solidFill>
          <a:ln/>
        </p:spPr>
      </p:sp>
      <p:sp>
        <p:nvSpPr>
          <p:cNvPr id="45" name="Text 43"/>
          <p:cNvSpPr/>
          <p:nvPr/>
        </p:nvSpPr>
        <p:spPr>
          <a:xfrm>
            <a:off x="8796528" y="5715000"/>
            <a:ext cx="2843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AWS_KEY="AKIA..."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secreto en git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pipeline maduro combina varios: no hay una sola herramienta que lo cubra todo.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94944"/>
            <a:ext cx="576072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SonarQube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801368" y="10241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código + seguridad básica (SAST)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inspección continua de código. Nació enfocada en la CALIDAD (bugs, code smells, deuda técnica) y sumó análisis de seguridad. Soporta más de 30 lenguajes.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edición Community gratuita y open source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bugs, code smells y deuda técnica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"Quality Gates": bloquea el merge si el código no cumple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integra con CI/CD e IDEs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como primera línea de control de calidad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acción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7512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este bug en Java y lo marca como "code smell":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5120" y="2834640"/>
            <a:ext cx="4892040" cy="1965960"/>
          </a:xfrm>
          <a:prstGeom prst="roundRect">
            <a:avLst>
              <a:gd name="adj" fmla="val 2326"/>
            </a:avLst>
          </a:prstGeom>
          <a:solidFill>
            <a:srgbClr val="0A0E1A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2926080"/>
            <a:ext cx="4617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SonarQube marca: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"Use a StringBuilder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instead of concatenation"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r = "";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i=0; i&lt;1000; i++)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+= datos[i];  // ineficiente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0292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49834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el problema, su severidad y la recomendación de arreglo en el dashboard.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94944"/>
            <a:ext cx="576072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 Duck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801368" y="10241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dependencias open source (SCA)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Software Composition Analysis. En vez de tu código, analiza las LIBRERÍAS de terceros que usas, detectando vulnerabilidades conocidas (CVEs) y problemas de licencias.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 base de datos de vulnerabilidades (CVE)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riesgos en la cadena de suministro de software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el cumplimiento de licencias open source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un inventario de componentes (SBOM)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cuando gran parte del código son dependencias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acción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7512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tu pom.xml y encuentra una dependencia vulnerable: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5120" y="2834640"/>
            <a:ext cx="4892040" cy="1965960"/>
          </a:xfrm>
          <a:prstGeom prst="roundRect">
            <a:avLst>
              <a:gd name="adj" fmla="val 2326"/>
            </a:avLst>
          </a:prstGeom>
          <a:solidFill>
            <a:srgbClr val="0A0E1A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2926080"/>
            <a:ext cx="4617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&lt;groupId&gt;org.apache.logging.log4j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&lt;/groupId&gt;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&lt;artifactId&gt;log4j-core&lt;/artifactId&gt;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&lt;version&gt;2.14.1&lt;/version&gt;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CVE-2021-44228 (Log4Shell)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0292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49834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Alerta: versión con vulnerabilidad crítica. Recomienda actualizar a una versión segura.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94944"/>
            <a:ext cx="576072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Checkmarx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801368" y="10241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profunda del código (SAST empresarial)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SAST empresarial construida por y para seguridad. Hace análisis profundo (taint analysis) rastreando cómo un dato malicioso fluye por el código. Soporta 25+ lenguajes, incluso legacy (COBOL, PL/SQL).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seguridad más profundo que SonarQube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 el flujo del dato del origen al punto vulnerable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con contexto y guía de remediación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 cobertura de lenguajes y frameworks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 a entornos empresariales y regulados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acción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7512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una inyección SQL rastreando el dato del request a la query: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5120" y="2834640"/>
            <a:ext cx="4892040" cy="1965960"/>
          </a:xfrm>
          <a:prstGeom prst="roundRect">
            <a:avLst>
              <a:gd name="adj" fmla="val 2326"/>
            </a:avLst>
          </a:prstGeom>
          <a:solidFill>
            <a:srgbClr val="0A0E1A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2926080"/>
            <a:ext cx="4617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user = request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.getParameter("user"); // origen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q = "SELECT * FROM users " +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"WHERE name='" + user + "'";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stmt.execute(q); // SQL Injection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0292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49834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 la ruta completa del dato inseguro y marca la línea exacta con severidad crítica.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94944"/>
            <a:ext cx="576072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Snyk (API &amp; Web)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801368" y="10241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dinámico de apps y APIs (DAST)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DAST de Snyk (basada en Probely). Analiza la aplicación EN EJECUCIÓN: un crawler recorre las URLs, interactúa con formularios y botones, y prueba la app y sus APIs desde fuera, como un atacante.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la app y las APIs corriendo (no el código)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XSS, SQL Injection y OWASP Top 10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falsos positivos muy baja (~0.1%)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zonas con login (autenticación)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integra en el pipeline CI/CD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acción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7512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una aplicación web y sus APIs en runtime: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5120" y="2834640"/>
            <a:ext cx="4892040" cy="1965960"/>
          </a:xfrm>
          <a:prstGeom prst="roundRect">
            <a:avLst>
              <a:gd name="adj" fmla="val 2326"/>
            </a:avLst>
          </a:prstGeom>
          <a:solidFill>
            <a:srgbClr val="0A0E1A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2926080"/>
            <a:ext cx="4617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snyk-web scan \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--target https://mi-app.com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High: Reflected XSS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/buscar?q=&lt;script&gt;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Medium: cabecera CSP ausente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0292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49834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vulnerabilidades explotables en la app y APIs desplegadas.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FB923C"/>
          </a:solidFill>
          <a:ln/>
          <a:effectLst>
            <a:outerShdw sx="100000" sy="100000" kx="0" ky="0" algn="bl" rotWithShape="0" blurRad="177800" dist="50800" dir="5400000">
              <a:srgbClr val="FB923C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94944"/>
            <a:ext cx="576072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WebInspect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801368" y="10241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empresarial de Fortify / OpenText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DAST comercial de la suite Fortify (OpenText). Analiza la app web EN EJECUCIÓN, lanzándole ataques desde fuera. Es la opción empresarial, con soporte profesional y reportes de cumplimiento.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 dinámico profundo de apps web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la suite Fortify (junto a Fortify SCA)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orientados a cumplimiento (PCI, HIPAA)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profesional empresarial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integra en CI/CD y con otras herramientas Fortify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923C">
                <a:alpha val="5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acción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7512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una app web en ejecución (análisis dinámico):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5120" y="2834640"/>
            <a:ext cx="4892040" cy="1965960"/>
          </a:xfrm>
          <a:prstGeom prst="roundRect">
            <a:avLst>
              <a:gd name="adj" fmla="val 2326"/>
            </a:avLst>
          </a:prstGeom>
          <a:solidFill>
            <a:srgbClr val="0A0E1A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2926080"/>
            <a:ext cx="4617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WebInspect scan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https://mi-app.com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Critical: SQL Injection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/login (parámetro user)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High: XSS almacenado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0292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49834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vulnerabilidades explotables en runtime con guía de remediación.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94944"/>
            <a:ext cx="576072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Wiz CLI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801368" y="10241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 nube y contenedores (CNAPP)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línea de comandos de Wiz. Escanea desde la terminal o el pipeline CI/CD antes de desplegar: imágenes de contenedores, infraestructura como código y secretos expuestos.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imágenes Docker e IaC (Terraform, K8s)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secretos expuestos y malas configuraciones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según exposición real ("toxic combinations")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para el pipeline CI/CD (shift-left)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 a seguridad de infraestructura cloud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acción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7512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una imagen de contenedor antes de subirla: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5120" y="2834640"/>
            <a:ext cx="4892040" cy="1965960"/>
          </a:xfrm>
          <a:prstGeom prst="roundRect">
            <a:avLst>
              <a:gd name="adj" fmla="val 2326"/>
            </a:avLst>
          </a:prstGeom>
          <a:solidFill>
            <a:srgbClr val="0A0E1A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2926080"/>
            <a:ext cx="4617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wizcli docker scan \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--image mi-app:latest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CRITICAL: 2  HIGH: 5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 image desactualizada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Secreto detectado en capa 3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0292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49834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vulnerabilidades y configuraciones inseguras antes del despliegue.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Comparativa rápida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/>
              <a:tblGrid>
                <a:gridCol w="2468880"/>
                <a:gridCol w="2834640"/>
                <a:gridCol w="3108960"/>
                <a:gridCol w="265176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Analiza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D3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para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B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SonarQube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 + Calidad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código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 calidad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Duck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 de librerías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Checkmarx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 empresarial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código (profundo)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Auditoría de seguridad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Snyk (API &amp; Web)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y APIs corriendo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 dinámicas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WebInspect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DAST empresarial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corriendo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DAST + cumplimiento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Wiz CLI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/ CNAPP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Contenedores e IaC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 en la nube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 se combinan: SAST revisa tu código, SCA tus librerías, DAST prueba la app viva, y Wiz cubre la nube.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Severidad de los issues en SonarQube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problema detectado se clasifica por gravedad, para priorizar qué arreglar primero.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4251960"/>
          </a:xfrm>
          <a:prstGeom prst="roundRect">
            <a:avLst>
              <a:gd name="adj" fmla="val 2532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3063240" cy="868680"/>
          </a:xfrm>
          <a:prstGeom prst="roundRect">
            <a:avLst>
              <a:gd name="adj" fmla="val 6316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762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5786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· Critical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que rompen la app o vulnerabilidades de seguridad graves.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977640"/>
            <a:ext cx="3063240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06908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t = null;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t.length();  // NullPointer seguro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pass = "admin123";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credencial hardcodeada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80560" y="1828800"/>
            <a:ext cx="3611880" cy="4251960"/>
          </a:xfrm>
          <a:prstGeom prst="roundRect">
            <a:avLst>
              <a:gd name="adj" fmla="val 2532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103120"/>
            <a:ext cx="3063240" cy="868680"/>
          </a:xfrm>
          <a:prstGeom prst="roundRect">
            <a:avLst>
              <a:gd name="adj" fmla="val 6316"/>
            </a:avLst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1762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25786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31089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Afectan mantenibilidad o pueden causar bugs, pero no rompen aún.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977640"/>
            <a:ext cx="3063240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406908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(x != null &amp;&amp; x == null){}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condición siempre falsa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total = calcular();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variable nunca usada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412480" y="1828800"/>
            <a:ext cx="3611880" cy="4251960"/>
          </a:xfrm>
          <a:prstGeom prst="roundRect">
            <a:avLst>
              <a:gd name="adj" fmla="val 2532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0" y="2103120"/>
            <a:ext cx="3063240" cy="868680"/>
          </a:xfrm>
          <a:prstGeom prst="roundRect">
            <a:avLst>
              <a:gd name="adj" fmla="val 6316"/>
            </a:avLst>
          </a:pr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0" y="21762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686800" y="25786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· Info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0" y="31089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y buenas prácticas. No afectan el funcionamiento.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686800" y="3977640"/>
            <a:ext cx="3063240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24" name="Text 22"/>
          <p:cNvSpPr/>
          <p:nvPr/>
        </p:nvSpPr>
        <p:spPr>
          <a:xfrm>
            <a:off x="8823960" y="406908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r = "";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for(..) r += datos[i];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usar StringBuilder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(edad == "18")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usar === en vez de ==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Escalas de severidad por herramienta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todas clasifican los hallazgos por gravedad para priorizar. Las de seguridad pura se basan en CVSS.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4023360"/>
        </p:xfrm>
        <a:graphic>
          <a:graphicData uri="http://schemas.openxmlformats.org/drawingml/2006/table">
            <a:tbl>
              <a:tblPr/>
              <a:tblGrid>
                <a:gridCol w="3017520"/>
                <a:gridCol w="4754880"/>
                <a:gridCol w="329184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 de severidad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basa 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SonarQube</a:t>
                      </a:r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 de código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Blocker · Critical · Major · Minor · Info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 en calidad y seguridad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Duck</a:t>
                      </a:r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· High · Medium · 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CVSS del CVE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Checkmarx</a:t>
                      </a:r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· Medium · Low · Info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 de la vulnerabilidad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Snyk (API &amp; Web)</a:t>
                      </a:r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· Medium · Low · Info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 del hallazgo en runtime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WebInspect</a:t>
                      </a:r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DAST empresarial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· High · Medium · Low · Info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Severidad del hallazgo dinámico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Wiz CLI</a:t>
                      </a:r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/ contenedores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· High · Medium · Low · Info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CVSS + exposición y contexto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Patrón: las herramientas de seguridad pura usan CVSS (Critical/High/Medium/Low); SonarQube usa su escala clásica de calidad.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914400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621792"/>
            <a:ext cx="493776" cy="493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Severidad en Black Duck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664208" y="9326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basada en el CVSS del CVE. Ejemplo de qué hallazgo genera cada nivel.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F9616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04672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Explotable de forma remota y sin credenciales.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 con RCE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remoto en una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dependencia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CVSS 9.8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7852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923C">
                <a:alpha val="5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70732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FB923C"/>
          </a:solidFill>
          <a:ln/>
        </p:spPr>
      </p:sp>
      <p:sp>
        <p:nvSpPr>
          <p:cNvPr id="14" name="Text 11"/>
          <p:cNvSpPr/>
          <p:nvPr/>
        </p:nvSpPr>
        <p:spPr>
          <a:xfrm>
            <a:off x="3570732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3643884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impacto y explotación factible.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570732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17" name="Text 14"/>
          <p:cNvSpPr/>
          <p:nvPr/>
        </p:nvSpPr>
        <p:spPr>
          <a:xfrm>
            <a:off x="3680460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Deserialización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insegura en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 librería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CVSS 8.1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227064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9944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FBBF24"/>
          </a:solidFill>
          <a:ln/>
        </p:spPr>
      </p:sp>
      <p:sp>
        <p:nvSpPr>
          <p:cNvPr id="20" name="Text 17"/>
          <p:cNvSpPr/>
          <p:nvPr/>
        </p:nvSpPr>
        <p:spPr>
          <a:xfrm>
            <a:off x="6409944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6483096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cierto contexto para explotarse.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9944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23" name="Text 20"/>
          <p:cNvSpPr/>
          <p:nvPr/>
        </p:nvSpPr>
        <p:spPr>
          <a:xfrm>
            <a:off x="6519672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 que exige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condiciones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específicas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CVSS 5.5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066276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249156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34D399"/>
          </a:solidFill>
          <a:ln/>
        </p:spPr>
      </p:sp>
      <p:sp>
        <p:nvSpPr>
          <p:cNvPr id="26" name="Text 23"/>
          <p:cNvSpPr/>
          <p:nvPr/>
        </p:nvSpPr>
        <p:spPr>
          <a:xfrm>
            <a:off x="9249156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9322308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bajo o afecta cumplimiento, no seguridad.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249156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29" name="Text 26"/>
          <p:cNvSpPr/>
          <p:nvPr/>
        </p:nvSpPr>
        <p:spPr>
          <a:xfrm>
            <a:off x="9358884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 menor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riesgo de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licencia GPL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CVSS 2.6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914400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621792"/>
            <a:ext cx="493776" cy="493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Severidad en Checkmarx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664208" y="9326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según el riesgo de la vulnerabilidad. Ejemplo de qué hallazgo genera cada nivel.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F9616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04672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del usuario llega directo a la query.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"..." +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.getParameter(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"id");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SQL Injection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7852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70732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FBBF24"/>
          </a:solidFill>
          <a:ln/>
        </p:spPr>
      </p:sp>
      <p:sp>
        <p:nvSpPr>
          <p:cNvPr id="14" name="Text 11"/>
          <p:cNvSpPr/>
          <p:nvPr/>
        </p:nvSpPr>
        <p:spPr>
          <a:xfrm>
            <a:off x="3570732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3643884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sin sanitizar reflejada en la respuesta.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570732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17" name="Text 14"/>
          <p:cNvSpPr/>
          <p:nvPr/>
        </p:nvSpPr>
        <p:spPr>
          <a:xfrm>
            <a:off x="3680460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response.write(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.getParam("q")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XSS reflejado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227064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9944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34D399"/>
          </a:solidFill>
          <a:ln/>
        </p:spPr>
      </p:sp>
      <p:sp>
        <p:nvSpPr>
          <p:cNvPr id="20" name="Text 17"/>
          <p:cNvSpPr/>
          <p:nvPr/>
        </p:nvSpPr>
        <p:spPr>
          <a:xfrm>
            <a:off x="6409944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6483096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accesible por JavaScript, riesgo menor.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9944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23" name="Text 20"/>
          <p:cNvSpPr/>
          <p:nvPr/>
        </p:nvSpPr>
        <p:spPr>
          <a:xfrm>
            <a:off x="6519672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cookie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.setHttpOnly(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false);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cookie débil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066276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249156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22D3EE"/>
          </a:solidFill>
          <a:ln/>
        </p:spPr>
      </p:sp>
      <p:sp>
        <p:nvSpPr>
          <p:cNvPr id="26" name="Text 23"/>
          <p:cNvSpPr/>
          <p:nvPr/>
        </p:nvSpPr>
        <p:spPr>
          <a:xfrm>
            <a:off x="9249156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9322308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mejorable, sin riesgo directo.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249156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29" name="Text 26"/>
          <p:cNvSpPr/>
          <p:nvPr/>
        </p:nvSpPr>
        <p:spPr>
          <a:xfrm>
            <a:off x="9358884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catch(Exception e)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excepción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silenciada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91440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621792"/>
            <a:ext cx="493776" cy="493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Severidad en Snyk (API &amp; Web)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664208" y="9326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riesgo del hallazgo en runtime (DAST). Ejemplo de qué hallazgo genera cada nivel.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F9616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04672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 explotable confirmada en la app corriendo.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/buscar?q=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alert(1)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XSS reflejado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7852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70732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FBBF24"/>
          </a:solidFill>
          <a:ln/>
        </p:spPr>
      </p:sp>
      <p:sp>
        <p:nvSpPr>
          <p:cNvPr id="14" name="Text 11"/>
          <p:cNvSpPr/>
          <p:nvPr/>
        </p:nvSpPr>
        <p:spPr>
          <a:xfrm>
            <a:off x="3570732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3643884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seguridad ausente en las respuestas.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570732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17" name="Text 14"/>
          <p:cNvSpPr/>
          <p:nvPr/>
        </p:nvSpPr>
        <p:spPr>
          <a:xfrm>
            <a:off x="3680460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falta cabecera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Security-Policy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 respuesta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227064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9944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34D399"/>
          </a:solidFill>
          <a:ln/>
        </p:spPr>
      </p:sp>
      <p:sp>
        <p:nvSpPr>
          <p:cNvPr id="20" name="Text 17"/>
          <p:cNvSpPr/>
          <p:nvPr/>
        </p:nvSpPr>
        <p:spPr>
          <a:xfrm>
            <a:off x="6409944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6483096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cookie puede viajar sin cifrar, riesgo menor.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9944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23" name="Text 20"/>
          <p:cNvSpPr/>
          <p:nvPr/>
        </p:nvSpPr>
        <p:spPr>
          <a:xfrm>
            <a:off x="6519672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Set-Cookie: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id=abc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sin flag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Secure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066276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249156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22D3EE"/>
          </a:solidFill>
          <a:ln/>
        </p:spPr>
      </p:sp>
      <p:sp>
        <p:nvSpPr>
          <p:cNvPr id="26" name="Text 23"/>
          <p:cNvSpPr/>
          <p:nvPr/>
        </p:nvSpPr>
        <p:spPr>
          <a:xfrm>
            <a:off x="9249156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9322308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informativo detectado en runtime.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249156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29" name="Text 26"/>
          <p:cNvSpPr/>
          <p:nvPr/>
        </p:nvSpPr>
        <p:spPr>
          <a:xfrm>
            <a:off x="9358884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Server: nginx/1.18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versión del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servidor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expuesta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914400"/>
          </a:xfrm>
          <a:prstGeom prst="ellipse">
            <a:avLst/>
          </a:prstGeom>
          <a:solidFill>
            <a:srgbClr val="FB923C"/>
          </a:solidFill>
          <a:ln/>
          <a:effectLst>
            <a:outerShdw sx="100000" sy="100000" kx="0" ky="0" algn="bl" rotWithShape="0" blurRad="177800" dist="50800" dir="5400000">
              <a:srgbClr val="FB923C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621792"/>
            <a:ext cx="493776" cy="493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Severidad en WebInspect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664208" y="9326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severidad del hallazgo dinámico (DAST). Ejemplo de qué hallazgo genera cada nivel.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2037283" cy="4572000"/>
          </a:xfrm>
          <a:prstGeom prst="roundRect">
            <a:avLst>
              <a:gd name="adj" fmla="val 448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856232"/>
            <a:ext cx="1671523" cy="658368"/>
          </a:xfrm>
          <a:prstGeom prst="roundRect">
            <a:avLst>
              <a:gd name="adj" fmla="val 8333"/>
            </a:avLst>
          </a:prstGeom>
          <a:solidFill>
            <a:srgbClr val="F9616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856232"/>
            <a:ext cx="16715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2697480"/>
            <a:ext cx="15252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 grave explotable en la app corriendo.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31520" y="4114800"/>
            <a:ext cx="1671523" cy="1874520"/>
          </a:xfrm>
          <a:prstGeom prst="roundRect">
            <a:avLst>
              <a:gd name="adj" fmla="val 2735"/>
            </a:avLst>
          </a:prstGeom>
          <a:solidFill>
            <a:srgbClr val="0A0E1A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4224528"/>
            <a:ext cx="1452067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/login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user=' OR '1'='1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SQL Injection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confirmada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805379" y="1600200"/>
            <a:ext cx="2037283" cy="4572000"/>
          </a:xfrm>
          <a:prstGeom prst="roundRect">
            <a:avLst>
              <a:gd name="adj" fmla="val 448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923C">
                <a:alpha val="5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88259" y="1856232"/>
            <a:ext cx="1671523" cy="658368"/>
          </a:xfrm>
          <a:prstGeom prst="roundRect">
            <a:avLst>
              <a:gd name="adj" fmla="val 8333"/>
            </a:avLst>
          </a:prstGeom>
          <a:solidFill>
            <a:srgbClr val="FB923C"/>
          </a:solidFill>
          <a:ln/>
        </p:spPr>
      </p:sp>
      <p:sp>
        <p:nvSpPr>
          <p:cNvPr id="14" name="Text 11"/>
          <p:cNvSpPr/>
          <p:nvPr/>
        </p:nvSpPr>
        <p:spPr>
          <a:xfrm>
            <a:off x="2988259" y="1856232"/>
            <a:ext cx="16715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061411" y="2697480"/>
            <a:ext cx="15252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impacto, explotación factible en runtime.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988259" y="4114800"/>
            <a:ext cx="1671523" cy="1874520"/>
          </a:xfrm>
          <a:prstGeom prst="roundRect">
            <a:avLst>
              <a:gd name="adj" fmla="val 2735"/>
            </a:avLst>
          </a:prstGeom>
          <a:solidFill>
            <a:srgbClr val="0A0E1A"/>
          </a:solidFill>
          <a:ln/>
        </p:spPr>
      </p:sp>
      <p:sp>
        <p:nvSpPr>
          <p:cNvPr id="17" name="Text 14"/>
          <p:cNvSpPr/>
          <p:nvPr/>
        </p:nvSpPr>
        <p:spPr>
          <a:xfrm>
            <a:off x="3097987" y="4224528"/>
            <a:ext cx="1452067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Comentario con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 guardado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XSS almacenado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062118" y="1600200"/>
            <a:ext cx="2037283" cy="4572000"/>
          </a:xfrm>
          <a:prstGeom prst="roundRect">
            <a:avLst>
              <a:gd name="adj" fmla="val 448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244998" y="1856232"/>
            <a:ext cx="1671523" cy="658368"/>
          </a:xfrm>
          <a:prstGeom prst="roundRect">
            <a:avLst>
              <a:gd name="adj" fmla="val 8333"/>
            </a:avLst>
          </a:prstGeom>
          <a:solidFill>
            <a:srgbClr val="FBBF24"/>
          </a:solidFill>
          <a:ln/>
        </p:spPr>
      </p:sp>
      <p:sp>
        <p:nvSpPr>
          <p:cNvPr id="20" name="Text 17"/>
          <p:cNvSpPr/>
          <p:nvPr/>
        </p:nvSpPr>
        <p:spPr>
          <a:xfrm>
            <a:off x="5244998" y="1856232"/>
            <a:ext cx="16715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318150" y="2697480"/>
            <a:ext cx="15252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seguridad ausente o débil.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244998" y="4114800"/>
            <a:ext cx="1671523" cy="1874520"/>
          </a:xfrm>
          <a:prstGeom prst="roundRect">
            <a:avLst>
              <a:gd name="adj" fmla="val 2735"/>
            </a:avLst>
          </a:prstGeom>
          <a:solidFill>
            <a:srgbClr val="0A0E1A"/>
          </a:solidFill>
          <a:ln/>
        </p:spPr>
      </p:sp>
      <p:sp>
        <p:nvSpPr>
          <p:cNvPr id="23" name="Text 20"/>
          <p:cNvSpPr/>
          <p:nvPr/>
        </p:nvSpPr>
        <p:spPr>
          <a:xfrm>
            <a:off x="5354726" y="4224528"/>
            <a:ext cx="1452067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falta cabecera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Strict-Transport-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(HSTS)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318858" y="1600200"/>
            <a:ext cx="2037283" cy="4572000"/>
          </a:xfrm>
          <a:prstGeom prst="roundRect">
            <a:avLst>
              <a:gd name="adj" fmla="val 448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501738" y="1856232"/>
            <a:ext cx="1671523" cy="658368"/>
          </a:xfrm>
          <a:prstGeom prst="roundRect">
            <a:avLst>
              <a:gd name="adj" fmla="val 8333"/>
            </a:avLst>
          </a:prstGeom>
          <a:solidFill>
            <a:srgbClr val="34D399"/>
          </a:solidFill>
          <a:ln/>
        </p:spPr>
      </p:sp>
      <p:sp>
        <p:nvSpPr>
          <p:cNvPr id="26" name="Text 23"/>
          <p:cNvSpPr/>
          <p:nvPr/>
        </p:nvSpPr>
        <p:spPr>
          <a:xfrm>
            <a:off x="7501738" y="1856232"/>
            <a:ext cx="16715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574890" y="2697480"/>
            <a:ext cx="15252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menor detectado en la app.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501738" y="4114800"/>
            <a:ext cx="1671523" cy="1874520"/>
          </a:xfrm>
          <a:prstGeom prst="roundRect">
            <a:avLst>
              <a:gd name="adj" fmla="val 2735"/>
            </a:avLst>
          </a:prstGeom>
          <a:solidFill>
            <a:srgbClr val="0A0E1A"/>
          </a:solidFill>
          <a:ln/>
        </p:spPr>
      </p:sp>
      <p:sp>
        <p:nvSpPr>
          <p:cNvPr id="29" name="Text 26"/>
          <p:cNvSpPr/>
          <p:nvPr/>
        </p:nvSpPr>
        <p:spPr>
          <a:xfrm>
            <a:off x="7611466" y="4224528"/>
            <a:ext cx="1452067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Directory listing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habilitado en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/assets/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9575597" y="1600200"/>
            <a:ext cx="2037283" cy="4572000"/>
          </a:xfrm>
          <a:prstGeom prst="roundRect">
            <a:avLst>
              <a:gd name="adj" fmla="val 448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9758477" y="1856232"/>
            <a:ext cx="1671523" cy="658368"/>
          </a:xfrm>
          <a:prstGeom prst="roundRect">
            <a:avLst>
              <a:gd name="adj" fmla="val 8333"/>
            </a:avLst>
          </a:prstGeom>
          <a:solidFill>
            <a:srgbClr val="22D3EE"/>
          </a:solidFill>
          <a:ln/>
        </p:spPr>
      </p:sp>
      <p:sp>
        <p:nvSpPr>
          <p:cNvPr id="32" name="Text 29"/>
          <p:cNvSpPr/>
          <p:nvPr/>
        </p:nvSpPr>
        <p:spPr>
          <a:xfrm>
            <a:off x="9758477" y="1856232"/>
            <a:ext cx="16715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9831629" y="2697480"/>
            <a:ext cx="15252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técnica revelada, sin riesgo directo.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9758477" y="4114800"/>
            <a:ext cx="1671523" cy="1874520"/>
          </a:xfrm>
          <a:prstGeom prst="roundRect">
            <a:avLst>
              <a:gd name="adj" fmla="val 2735"/>
            </a:avLst>
          </a:prstGeom>
          <a:solidFill>
            <a:srgbClr val="0A0E1A"/>
          </a:solidFill>
          <a:ln/>
        </p:spPr>
      </p:sp>
      <p:sp>
        <p:nvSpPr>
          <p:cNvPr id="35" name="Text 32"/>
          <p:cNvSpPr/>
          <p:nvPr/>
        </p:nvSpPr>
        <p:spPr>
          <a:xfrm>
            <a:off x="9868205" y="4224528"/>
            <a:ext cx="1452067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X-Powered-By: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PHP/7.4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tecnología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expuesta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91440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621792"/>
            <a:ext cx="493776" cy="493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Severidad en Wiz CLI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664208" y="9326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CVSS + exposición y contexto. Ejemplo de qué hallazgo genera cada nivel.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2037283" cy="4572000"/>
          </a:xfrm>
          <a:prstGeom prst="roundRect">
            <a:avLst>
              <a:gd name="adj" fmla="val 448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856232"/>
            <a:ext cx="1671523" cy="658368"/>
          </a:xfrm>
          <a:prstGeom prst="roundRect">
            <a:avLst>
              <a:gd name="adj" fmla="val 8333"/>
            </a:avLst>
          </a:prstGeom>
          <a:solidFill>
            <a:srgbClr val="F9616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856232"/>
            <a:ext cx="16715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2697480"/>
            <a:ext cx="15252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 tóxica: grave Y accesible desde internet.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31520" y="4114800"/>
            <a:ext cx="1671523" cy="1874520"/>
          </a:xfrm>
          <a:prstGeom prst="roundRect">
            <a:avLst>
              <a:gd name="adj" fmla="val 2735"/>
            </a:avLst>
          </a:prstGeom>
          <a:solidFill>
            <a:srgbClr val="0A0E1A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4224528"/>
            <a:ext cx="1452067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 crítica en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contenedor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EXPUESTO a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internet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805379" y="1600200"/>
            <a:ext cx="2037283" cy="4572000"/>
          </a:xfrm>
          <a:prstGeom prst="roundRect">
            <a:avLst>
              <a:gd name="adj" fmla="val 448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923C">
                <a:alpha val="5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88259" y="1856232"/>
            <a:ext cx="1671523" cy="658368"/>
          </a:xfrm>
          <a:prstGeom prst="roundRect">
            <a:avLst>
              <a:gd name="adj" fmla="val 8333"/>
            </a:avLst>
          </a:prstGeom>
          <a:solidFill>
            <a:srgbClr val="FB923C"/>
          </a:solidFill>
          <a:ln/>
        </p:spPr>
      </p:sp>
      <p:sp>
        <p:nvSpPr>
          <p:cNvPr id="14" name="Text 11"/>
          <p:cNvSpPr/>
          <p:nvPr/>
        </p:nvSpPr>
        <p:spPr>
          <a:xfrm>
            <a:off x="2988259" y="1856232"/>
            <a:ext cx="16715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061411" y="2697480"/>
            <a:ext cx="15252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 que da acceso a la nube.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988259" y="4114800"/>
            <a:ext cx="1671523" cy="1874520"/>
          </a:xfrm>
          <a:prstGeom prst="roundRect">
            <a:avLst>
              <a:gd name="adj" fmla="val 2735"/>
            </a:avLst>
          </a:prstGeom>
          <a:solidFill>
            <a:srgbClr val="0A0E1A"/>
          </a:solidFill>
          <a:ln/>
        </p:spPr>
      </p:sp>
      <p:sp>
        <p:nvSpPr>
          <p:cNvPr id="17" name="Text 14"/>
          <p:cNvSpPr/>
          <p:nvPr/>
        </p:nvSpPr>
        <p:spPr>
          <a:xfrm>
            <a:off x="3097987" y="4224528"/>
            <a:ext cx="1452067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AWS_SECRET_KEY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"AKIA..."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hardcodeado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 la imagen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062118" y="1600200"/>
            <a:ext cx="2037283" cy="4572000"/>
          </a:xfrm>
          <a:prstGeom prst="roundRect">
            <a:avLst>
              <a:gd name="adj" fmla="val 448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244998" y="1856232"/>
            <a:ext cx="1671523" cy="658368"/>
          </a:xfrm>
          <a:prstGeom prst="roundRect">
            <a:avLst>
              <a:gd name="adj" fmla="val 8333"/>
            </a:avLst>
          </a:prstGeom>
          <a:solidFill>
            <a:srgbClr val="FBBF24"/>
          </a:solidFill>
          <a:ln/>
        </p:spPr>
      </p:sp>
      <p:sp>
        <p:nvSpPr>
          <p:cNvPr id="20" name="Text 17"/>
          <p:cNvSpPr/>
          <p:nvPr/>
        </p:nvSpPr>
        <p:spPr>
          <a:xfrm>
            <a:off x="5244998" y="1856232"/>
            <a:ext cx="16715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318150" y="2697480"/>
            <a:ext cx="15252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base desactualizada con vulnerabilidades.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244998" y="4114800"/>
            <a:ext cx="1671523" cy="1874520"/>
          </a:xfrm>
          <a:prstGeom prst="roundRect">
            <a:avLst>
              <a:gd name="adj" fmla="val 2735"/>
            </a:avLst>
          </a:prstGeom>
          <a:solidFill>
            <a:srgbClr val="0A0E1A"/>
          </a:solidFill>
          <a:ln/>
        </p:spPr>
      </p:sp>
      <p:sp>
        <p:nvSpPr>
          <p:cNvPr id="23" name="Text 20"/>
          <p:cNvSpPr/>
          <p:nvPr/>
        </p:nvSpPr>
        <p:spPr>
          <a:xfrm>
            <a:off x="5354726" y="4224528"/>
            <a:ext cx="1452067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ubuntu:18.04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sin soporte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318858" y="1600200"/>
            <a:ext cx="2037283" cy="4572000"/>
          </a:xfrm>
          <a:prstGeom prst="roundRect">
            <a:avLst>
              <a:gd name="adj" fmla="val 448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501738" y="1856232"/>
            <a:ext cx="1671523" cy="658368"/>
          </a:xfrm>
          <a:prstGeom prst="roundRect">
            <a:avLst>
              <a:gd name="adj" fmla="val 8333"/>
            </a:avLst>
          </a:prstGeom>
          <a:solidFill>
            <a:srgbClr val="34D399"/>
          </a:solidFill>
          <a:ln/>
        </p:spPr>
      </p:sp>
      <p:sp>
        <p:nvSpPr>
          <p:cNvPr id="26" name="Text 23"/>
          <p:cNvSpPr/>
          <p:nvPr/>
        </p:nvSpPr>
        <p:spPr>
          <a:xfrm>
            <a:off x="7501738" y="1856232"/>
            <a:ext cx="16715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574890" y="2697480"/>
            <a:ext cx="15252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 práctica de hardening, impacto acotado.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501738" y="4114800"/>
            <a:ext cx="1671523" cy="1874520"/>
          </a:xfrm>
          <a:prstGeom prst="roundRect">
            <a:avLst>
              <a:gd name="adj" fmla="val 2735"/>
            </a:avLst>
          </a:prstGeom>
          <a:solidFill>
            <a:srgbClr val="0A0E1A"/>
          </a:solidFill>
          <a:ln/>
        </p:spPr>
      </p:sp>
      <p:sp>
        <p:nvSpPr>
          <p:cNvPr id="29" name="Text 26"/>
          <p:cNvSpPr/>
          <p:nvPr/>
        </p:nvSpPr>
        <p:spPr>
          <a:xfrm>
            <a:off x="7611466" y="4224528"/>
            <a:ext cx="1452067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root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contenedor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corre como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root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9575597" y="1600200"/>
            <a:ext cx="2037283" cy="4572000"/>
          </a:xfrm>
          <a:prstGeom prst="roundRect">
            <a:avLst>
              <a:gd name="adj" fmla="val 448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9758477" y="1856232"/>
            <a:ext cx="1671523" cy="658368"/>
          </a:xfrm>
          <a:prstGeom prst="roundRect">
            <a:avLst>
              <a:gd name="adj" fmla="val 8333"/>
            </a:avLst>
          </a:prstGeom>
          <a:solidFill>
            <a:srgbClr val="22D3EE"/>
          </a:solidFill>
          <a:ln/>
        </p:spPr>
      </p:sp>
      <p:sp>
        <p:nvSpPr>
          <p:cNvPr id="32" name="Text 29"/>
          <p:cNvSpPr/>
          <p:nvPr/>
        </p:nvSpPr>
        <p:spPr>
          <a:xfrm>
            <a:off x="9758477" y="1856232"/>
            <a:ext cx="16715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9831629" y="2697480"/>
            <a:ext cx="15252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Recomendación, sin riesgo de seguridad.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9758477" y="4114800"/>
            <a:ext cx="1671523" cy="1874520"/>
          </a:xfrm>
          <a:prstGeom prst="roundRect">
            <a:avLst>
              <a:gd name="adj" fmla="val 2735"/>
            </a:avLst>
          </a:prstGeom>
          <a:solidFill>
            <a:srgbClr val="0A0E1A"/>
          </a:solidFill>
          <a:ln/>
        </p:spPr>
      </p:sp>
      <p:sp>
        <p:nvSpPr>
          <p:cNvPr id="35" name="Text 32"/>
          <p:cNvSpPr/>
          <p:nvPr/>
        </p:nvSpPr>
        <p:spPr>
          <a:xfrm>
            <a:off x="9868205" y="4224528"/>
            <a:ext cx="1452067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falta un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label de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metadatos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68680" y="2834640"/>
            <a:ext cx="1463040" cy="1463040"/>
          </a:xfrm>
          <a:prstGeom prst="ellipse">
            <a:avLst/>
          </a:prstGeom>
          <a:solidFill>
            <a:srgbClr val="6DB33F"/>
          </a:solidFill>
          <a:ln/>
          <a:effectLst>
            <a:outerShdw sx="100000" sy="100000" kx="0" ky="0" algn="bl" rotWithShape="0" blurRad="177800" dist="50800" dir="5400000">
              <a:srgbClr val="6DB33F">
                <a:alpha val="5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32004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0" y="27889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Security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OAuth2 Authorization Server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788920" y="39776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autorización moderna en Java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6DB33F"/>
          </a:solidFill>
          <a:ln/>
          <a:effectLst>
            <a:outerShdw sx="100000" sy="100000" kx="0" ky="0" algn="bl" rotWithShape="0" blurRad="177800" dist="50800" dir="5400000">
              <a:srgbClr val="6DB33F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1323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486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Spring Security?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framework de seguridad estándar del ecosistema Spring. Protege tu aplicación gestionando quién entra (autenticación) y qué puede hacer (autorización).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51460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807208"/>
            <a:ext cx="731520" cy="73152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990088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2788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828800" y="322783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la identidad: login por formulario, HTTP Basic, JWT, OAuth2, LDAP.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309360" y="251460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629400" y="2807208"/>
            <a:ext cx="731520" cy="73152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99008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89520" y="2788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7589520" y="322783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el acceso por roles y permisos, a nivel de ruta o de método.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52628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818888"/>
            <a:ext cx="731520" cy="731520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001768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28800" y="4800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Chain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828800" y="523951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cadena de filtros procesa cada petición en orden: CSRF, auth, permisos.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309360" y="452628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629400" y="4818888"/>
            <a:ext cx="731520" cy="73152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5001768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89520" y="4800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7589520" y="523951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Defiende contra CSRF, session fixation, clickjacking y otros ataques comunes.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corazón: la Filter Chain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petición HTTP atraviesa una cadena de filtros antes de llegar a tu controlador. Cada filtro resuelve una responsabilidad.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084832" cy="2011680"/>
          </a:xfrm>
          <a:prstGeom prst="roundRect">
            <a:avLst>
              <a:gd name="adj" fmla="val 3636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94A3B8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16736" y="2651760"/>
            <a:ext cx="548640" cy="54864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1316736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el request HTTP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15184" y="292608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</a:rPr>
              <a:t>›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798064" y="2377440"/>
            <a:ext cx="2084832" cy="2011680"/>
          </a:xfrm>
          <a:prstGeom prst="roundRect">
            <a:avLst>
              <a:gd name="adj" fmla="val 3636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2651760"/>
            <a:ext cx="548640" cy="5486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89504" y="33375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/ Sesión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89504" y="37490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previas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64608" y="292608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</a:rPr>
              <a:t>›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047488" y="2377440"/>
            <a:ext cx="2084832" cy="2011680"/>
          </a:xfrm>
          <a:prstGeom prst="roundRect">
            <a:avLst>
              <a:gd name="adj" fmla="val 3636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15584" y="2651760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5815584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38928" y="33375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38928" y="37490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eres? (JWT, form...)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14032" y="292608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</a:rPr>
              <a:t>›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7296912" y="2377440"/>
            <a:ext cx="2084832" cy="2011680"/>
          </a:xfrm>
          <a:prstGeom prst="roundRect">
            <a:avLst>
              <a:gd name="adj" fmla="val 3636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65008" y="2651760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/>
          <p:nvPr/>
        </p:nvSpPr>
        <p:spPr>
          <a:xfrm>
            <a:off x="8065008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388352" y="33375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88352" y="37490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¿Tienes permiso?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63456" y="292608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</a:rPr>
              <a:t>›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9546336" y="2377440"/>
            <a:ext cx="2084832" cy="2011680"/>
          </a:xfrm>
          <a:prstGeom prst="roundRect">
            <a:avLst>
              <a:gd name="adj" fmla="val 3636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6DB33F">
                <a:alpha val="5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14432" y="2651760"/>
            <a:ext cx="548640" cy="54864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30" name="Text 28"/>
          <p:cNvSpPr/>
          <p:nvPr/>
        </p:nvSpPr>
        <p:spPr>
          <a:xfrm>
            <a:off x="10314432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637776" y="33375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37776" y="37490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tu lógica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846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autenticación tiene éxito, el usuario queda en el SecurityContext y está disponible durante toda la petición.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1323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486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OAuth2?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estándar de la industria para AUTORIZACIÓN delegada. Permite dar acceso a recursos sin compartir la contraseña, usando tokens.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4688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B2437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2743200"/>
            <a:ext cx="502920" cy="50292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889504"/>
            <a:ext cx="210312" cy="2103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542032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 </a:t>
            </a:r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la llave del valet de un auto. Le das al valet una llave que solo abre y enciende, pero no la cajuela ni tu casa. El token es esa llave limitada.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379476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943100" y="4069080"/>
            <a:ext cx="822960" cy="82296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268" y="4270248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5800" y="4983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731520" y="542239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que quiere acceder a un recurso protegido (ej. tu frontend o gateway).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480560" y="379476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875020" y="4069080"/>
            <a:ext cx="822960" cy="822960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188" y="4270248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617720" y="4983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Server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663440" y="542239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 al usuario y EMITE los tokens de acceso.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8412480" y="379476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806940" y="4069080"/>
            <a:ext cx="822960" cy="82296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108" y="4270248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549640" y="4983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Server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8595360" y="542239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protegida: valida el token y entrega los datos.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Authorization Code + PKCE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recomendado en 2026. Así viaja el usuario desde el login hasta acceder a la API protegida.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57400"/>
            <a:ext cx="594360" cy="5943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199339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quiere entrar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1993392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 redirige al usuario al Authorization Server para iniciar sesión.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97180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3154680"/>
            <a:ext cx="594360" cy="59436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309067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y consentimiento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3090672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se autentica en el Authorization Server (no en el Client). Aprueba los permisos (scopes).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06908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251960"/>
            <a:ext cx="594360" cy="5943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51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28800" y="418795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emite el token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4187952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Authorization Server valida y emite un access token (normalmente un JWT firmado).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16636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5840" y="5349240"/>
            <a:ext cx="594360" cy="5943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349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28800" y="52852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la API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20640" y="5285232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 usa el token para llamar al Resource Server, que lo valida y entrega los datos.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6DB33F"/>
          </a:solidFill>
          <a:ln/>
          <a:effectLst>
            <a:outerShdw sx="100000" sy="100000" kx="0" ky="0" algn="bl" rotWithShape="0" blurRad="177800" dist="50800" dir="5400000">
              <a:srgbClr val="6DB33F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1323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Authorization Server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801368" y="10972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implementación oficial de Spring para montar TU PROPIO servidor de autorización (OAuth 2.1 + OpenID Connect).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19456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OAuth 2.1 y OpenID Connect 1.0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 sobre Spring Security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Emite y valida tokens JWT firmados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clientes, scopes y consentimiento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Ligero, personalizable y open source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0" y="178308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6DB33F">
                <a:alpha val="5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751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un cliente (config mínima)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675120" y="2377440"/>
            <a:ext cx="4892040" cy="3566160"/>
          </a:xfrm>
          <a:prstGeom prst="roundRect">
            <a:avLst>
              <a:gd name="adj" fmla="val 1282"/>
            </a:avLst>
          </a:prstGeom>
          <a:solidFill>
            <a:srgbClr val="0A0E1A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0" y="2487168"/>
            <a:ext cx="4617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RegisteredClient.withId(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UUID.randomUUID().toString())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.clientId("mi-cliente")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.clientSecret("{noop}secret")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.authorizationGrantType(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AuthorizationGrantType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.AUTHORIZATION_CODE)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.redirectUri(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"http://127.0.0.1/callback")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.scope("read")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.scope("write")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.build();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3 papeles en Spring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ofrece un módulo (dependencia) para cada rol del ecosistema OAuth2.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2194560"/>
            <a:ext cx="914400" cy="91440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2423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46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Client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3794760"/>
            <a:ext cx="3063240" cy="777240"/>
          </a:xfrm>
          <a:prstGeom prst="roundRect">
            <a:avLst>
              <a:gd name="adj" fmla="val 5882"/>
            </a:avLst>
          </a:prstGeom>
          <a:solidFill>
            <a:srgbClr val="0A0E1A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38587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spring-boot-starter-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oauth2-client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7240" y="47091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app se autentica CONTRA un proveedor (Google, tu Auth Server). Ideal para "login con...".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80560" y="18288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29300" y="2194560"/>
            <a:ext cx="914400" cy="914400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0" y="24231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3246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Server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4754880" y="3794760"/>
            <a:ext cx="3063240" cy="777240"/>
          </a:xfrm>
          <a:prstGeom prst="roundRect">
            <a:avLst>
              <a:gd name="adj" fmla="val 5882"/>
            </a:avLst>
          </a:prstGeom>
          <a:solidFill>
            <a:srgbClr val="0A0E1A"/>
          </a:solidFill>
          <a:ln/>
        </p:spPr>
      </p:sp>
      <p:sp>
        <p:nvSpPr>
          <p:cNvPr id="16" name="Text 12"/>
          <p:cNvSpPr/>
          <p:nvPr/>
        </p:nvSpPr>
        <p:spPr>
          <a:xfrm>
            <a:off x="4800600" y="38587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spring-boot-starter-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oauth2-authorization-server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709160" y="47091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app EMITE los tokens. Montas tu propio proveedor de identidad.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412480" y="18288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761220" y="2194560"/>
            <a:ext cx="914400" cy="91440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820" y="24231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95360" y="3246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Server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8686800" y="3794760"/>
            <a:ext cx="3063240" cy="777240"/>
          </a:xfrm>
          <a:prstGeom prst="roundRect">
            <a:avLst>
              <a:gd name="adj" fmla="val 5882"/>
            </a:avLst>
          </a:prstGeom>
          <a:solidFill>
            <a:srgbClr val="0A0E1A"/>
          </a:solidFill>
          <a:ln/>
        </p:spPr>
      </p:sp>
      <p:sp>
        <p:nvSpPr>
          <p:cNvPr id="23" name="Text 18"/>
          <p:cNvSpPr/>
          <p:nvPr/>
        </p:nvSpPr>
        <p:spPr>
          <a:xfrm>
            <a:off x="8732520" y="38587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spring-boot-starter-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oauth2-resource-server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8641080" y="47091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API valida el JWT que recibe en cada petición y protege sus endpoints.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token JWT: cómo se forma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JWT tiene tres partes separadas por puntos. Cada una es un JSON codificado en Base64.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0A0E1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eyJhbGciOiJSUzI1NiJ9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ctr"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eyJzdWIiOiJvcmxhbmQ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ctr"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SflKxwRJSMeKKF2QT4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</a:t>
            </a:r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</a:t>
            </a:r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3108960"/>
            <a:ext cx="3154680" cy="548640"/>
          </a:xfrm>
          <a:prstGeom prst="roundRect">
            <a:avLst>
              <a:gd name="adj" fmla="val 8333"/>
            </a:avLst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108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HEADER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7490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firmado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4114800"/>
            <a:ext cx="3154680" cy="1234440"/>
          </a:xfrm>
          <a:prstGeom prst="roundRect">
            <a:avLst>
              <a:gd name="adj" fmla="val 3704"/>
            </a:avLst>
          </a:prstGeom>
          <a:solidFill>
            <a:srgbClr val="0A0E1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062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"alg": "RS256",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"kid": "a1b2c3"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54406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 de firma y el kid (qué llave se usó).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288036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3108960"/>
            <a:ext cx="3154680" cy="548640"/>
          </a:xfrm>
          <a:prstGeom prst="roundRect">
            <a:avLst>
              <a:gd name="adj" fmla="val 8333"/>
            </a:avLst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3108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PAYLOAD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09160" y="37490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(claims)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4114800"/>
            <a:ext cx="3154680" cy="1234440"/>
          </a:xfrm>
          <a:prstGeom prst="roundRect">
            <a:avLst>
              <a:gd name="adj" fmla="val 3704"/>
            </a:avLst>
          </a:prstGeom>
          <a:solidFill>
            <a:srgbClr val="0A0E1A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42062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"sub": "orlando",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"rol": "ADMIN",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"exp": 1735689600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54406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Usuario, rol, expiración. Codificado, NO cifrado.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12480" y="288036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41080" y="3108960"/>
            <a:ext cx="3154680" cy="548640"/>
          </a:xfrm>
          <a:prstGeom prst="roundRect">
            <a:avLst>
              <a:gd name="adj" fmla="val 8333"/>
            </a:avLst>
          </a:prstGeom>
          <a:solidFill>
            <a:srgbClr val="34D399"/>
          </a:solidFill>
          <a:ln/>
        </p:spPr>
      </p:sp>
      <p:sp>
        <p:nvSpPr>
          <p:cNvPr id="23" name="Text 21"/>
          <p:cNvSpPr/>
          <p:nvPr/>
        </p:nvSpPr>
        <p:spPr>
          <a:xfrm>
            <a:off x="8641080" y="3108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FIRMA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41080" y="37490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 de integridad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641080" y="4114800"/>
            <a:ext cx="3154680" cy="1234440"/>
          </a:xfrm>
          <a:prstGeom prst="roundRect">
            <a:avLst>
              <a:gd name="adj" fmla="val 3704"/>
            </a:avLst>
          </a:prstGeom>
          <a:solidFill>
            <a:srgbClr val="0A0E1A"/>
          </a:solidFill>
          <a:ln/>
        </p:spPr>
      </p:sp>
      <p:sp>
        <p:nvSpPr>
          <p:cNvPr id="26" name="Text 24"/>
          <p:cNvSpPr/>
          <p:nvPr/>
        </p:nvSpPr>
        <p:spPr>
          <a:xfrm>
            <a:off x="8778240" y="42062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RS256(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header + "." +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payload,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llavePrivada)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686800" y="54406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Impide alterar o falsificar el token.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header y el payload solo están codificados (cualquiera los lee); lo que protege al token es la firma.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1323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scope: qué permite el token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801368" y="10972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scope define hasta dónde puede llegar un token. Responde: ¿qué se le permite hacer?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B2437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1993392"/>
            <a:ext cx="502920" cy="50292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139696"/>
            <a:ext cx="210312" cy="2103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82880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lo que la llave del valet puede abrir. Scope "read" solo deja leer; "read write" deja leer y escribir. El token lleva ese permiso adentro.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292608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7724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token (payload)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77240" y="3611880"/>
            <a:ext cx="3154680" cy="1371600"/>
          </a:xfrm>
          <a:prstGeom prst="roundRect">
            <a:avLst>
              <a:gd name="adj" fmla="val 3333"/>
            </a:avLst>
          </a:prstGeom>
          <a:solidFill>
            <a:srgbClr val="0A0E1A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370332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"sub": "orlando",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"scope": "read write",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"exp": 1735689600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50749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scope viaja dentro del JWT.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480560" y="292608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70916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registrar el cliente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709160" y="3611880"/>
            <a:ext cx="3154680" cy="1371600"/>
          </a:xfrm>
          <a:prstGeom prst="roundRect">
            <a:avLst>
              <a:gd name="adj" fmla="val 3333"/>
            </a:avLst>
          </a:prstGeom>
          <a:solidFill>
            <a:srgbClr val="0A0E1A"/>
          </a:solidFill>
          <a:ln/>
        </p:spPr>
      </p:sp>
      <p:sp>
        <p:nvSpPr>
          <p:cNvPr id="18" name="Text 14"/>
          <p:cNvSpPr/>
          <p:nvPr/>
        </p:nvSpPr>
        <p:spPr>
          <a:xfrm>
            <a:off x="4846320" y="370332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.clientId("mi-cliente")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.scope("read")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.scope("write")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.build();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754880" y="50749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qué scopes puede pedir.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412480" y="292608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864108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proteger la API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8641080" y="3611880"/>
            <a:ext cx="3154680" cy="1371600"/>
          </a:xfrm>
          <a:prstGeom prst="roundRect">
            <a:avLst>
              <a:gd name="adj" fmla="val 3333"/>
            </a:avLst>
          </a:prstGeom>
          <a:solidFill>
            <a:srgbClr val="0A0E1A"/>
          </a:solidFill>
          <a:ln/>
        </p:spPr>
      </p:sp>
      <p:sp>
        <p:nvSpPr>
          <p:cNvPr id="23" name="Text 19"/>
          <p:cNvSpPr/>
          <p:nvPr/>
        </p:nvSpPr>
        <p:spPr>
          <a:xfrm>
            <a:off x="8778240" y="370332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.requestMatchers(GET, "/api/**")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.hasAuthority(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"SCOPE_read")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8686800" y="50749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endpoint exige su scope.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= qué PUEDE hacer el token (permisos).   Rol = QUIÉN es el usuario (identidad).   Son distintos.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Llave privada vs. llave pública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en par: lo que una firma, la otra lo verifica. Es la base de que el token no se pueda falsificar.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3200400"/>
          </a:xfrm>
          <a:prstGeom prst="roundRect">
            <a:avLst>
              <a:gd name="adj" fmla="val 2857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868680" cy="8686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368296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 privada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892808" y="26700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 · solo el servidor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29184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los tokens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 tiene el Authorization Server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se comparte con nadie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única que puede crear una firma válida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1828800"/>
            <a:ext cx="5486400" cy="3200400"/>
          </a:xfrm>
          <a:prstGeom prst="roundRect">
            <a:avLst>
              <a:gd name="adj" fmla="val 2857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29400" y="2148840"/>
            <a:ext cx="868680" cy="86868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856" y="2368296"/>
            <a:ext cx="429768" cy="4297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3524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 pública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653528" y="26700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ABIERTA · se publica en el JWKS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675120" y="329184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los tokens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puede tener cualquier Resource Server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comparte abiertamente (endpoint JWKS)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 crear firmas, solo comprobarlas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48640" y="52120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B2437"/>
          </a:solidFill>
          <a:ln/>
        </p:spPr>
      </p:sp>
      <p:sp>
        <p:nvSpPr>
          <p:cNvPr id="17" name="Shape 13"/>
          <p:cNvSpPr/>
          <p:nvPr/>
        </p:nvSpPr>
        <p:spPr>
          <a:xfrm>
            <a:off x="868680" y="5468112"/>
            <a:ext cx="502920" cy="50292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5614416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5285232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sello de cera: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privada es el sello único del rey (solo él lo tiene). La pública es que todos conocen cómo se ve ese sello: cualquiera confirma que la carta es del rey, pero nadie puede reproducirlo.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firma el token: HS256 vs RS256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dos formas de firmar un JWT según el tipo de llave. Definen quién puede firmar y quién verificar.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868680" cy="8686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368296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762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Simétrica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892808" y="2651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HS256 · una sola llave secreta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24612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llave firma y verifica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secreto compartido entre las partes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y rápida de configurar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si se filtra, cualquiera falsifica tokens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un solo servicio que emite y valida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5532120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0A0E1A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55961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HS256(header+payload, secreto)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309360" y="182880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29400" y="2148840"/>
            <a:ext cx="868680" cy="86868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856" y="2368296"/>
            <a:ext cx="429768" cy="4297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35240" y="21762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Asimétrica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7653528" y="2651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RS256 · par de llaves (privada + pública)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675120" y="324612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PRIVADA firma, la PÚBLICA verifica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secreto (privada) nunca se comparte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pública se publica en el JWKS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segura para varios servicios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un servidor emite, muchos validan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675120" y="5532120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0A0E1A"/>
          </a:solidFill>
          <a:ln/>
        </p:spPr>
      </p:sp>
      <p:sp>
        <p:nvSpPr>
          <p:cNvPr id="19" name="Text 15"/>
          <p:cNvSpPr/>
          <p:nvPr/>
        </p:nvSpPr>
        <p:spPr>
          <a:xfrm>
            <a:off x="6812280" y="55961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RS256(header+payload, llavePrivada)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6DB33F"/>
          </a:solidFill>
          <a:ln/>
          <a:effectLst>
            <a:outerShdw sx="100000" sy="100000" kx="0" ky="0" algn="bl" rotWithShape="0" blurRad="177800" dist="50800" dir="5400000">
              <a:srgbClr val="6DB33F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1323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JWKS: cómo se valida el token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801368" y="10972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Authorization Server publica su llave pública en /oauth2/jwks. El Resource Server la usa para verificar cada token.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endpoint /oauth2/jwks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5394960" cy="3931920"/>
          </a:xfrm>
          <a:prstGeom prst="roundRect">
            <a:avLst>
              <a:gd name="adj" fmla="val 1395"/>
            </a:avLst>
          </a:prstGeom>
          <a:solidFill>
            <a:srgbClr val="0A0E1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33172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/oauth2/jwks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"keys": [{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"kty": "RSA",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"kid": "a1b2c3d4-5678", 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ID de la llave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"use": "sig",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"n": "0vx7ag...(módulo)",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"e": "AQAB"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Solo la llave PÚBLICA,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nunca la privada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30936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en el Resource Server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09360" y="219456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2441448"/>
            <a:ext cx="438912" cy="43891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9"/>
          <p:cNvSpPr/>
          <p:nvPr/>
        </p:nvSpPr>
        <p:spPr>
          <a:xfrm>
            <a:off x="6537960" y="2441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132320" y="23042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el header del token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132320" y="26517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el kid (qué llave se usó) y el algoritmo.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309360" y="3182112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37960" y="3429000"/>
            <a:ext cx="438912" cy="43891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7" name="Text 14"/>
          <p:cNvSpPr/>
          <p:nvPr/>
        </p:nvSpPr>
        <p:spPr>
          <a:xfrm>
            <a:off x="6537960" y="3429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132320" y="3291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la llave en el JWKS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132320" y="363931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ese kid, toma la llave pública correcta del endpoint.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309360" y="4169664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537960" y="4416552"/>
            <a:ext cx="438912" cy="43891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2" name="Text 19"/>
          <p:cNvSpPr/>
          <p:nvPr/>
        </p:nvSpPr>
        <p:spPr>
          <a:xfrm>
            <a:off x="6537960" y="4416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7132320" y="42793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la firma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132320" y="4626864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que header+payload no fueron alterados.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309360" y="5157216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537960" y="5404104"/>
            <a:ext cx="438912" cy="43891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4"/>
          <p:cNvSpPr/>
          <p:nvPr/>
        </p:nvSpPr>
        <p:spPr>
          <a:xfrm>
            <a:off x="6537960" y="5404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7132320" y="52669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los claims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132320" y="561441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expiración (exp), emisor (iss) y audiencia (aud).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0080"/>
            <a:ext cx="1005840" cy="100584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877824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596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Ideas clave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77240" y="187452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51560" y="2130552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4"/>
          <p:cNvSpPr/>
          <p:nvPr/>
        </p:nvSpPr>
        <p:spPr>
          <a:xfrm>
            <a:off x="1737360" y="199339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análisis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212080" y="199339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revisa tu código (SonarQube, Checkmarx); SCA revisa tus dependencias (Black Duck). Se combinan.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" y="297180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51560" y="3227832"/>
            <a:ext cx="457200" cy="45720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11" name="Text 8"/>
          <p:cNvSpPr/>
          <p:nvPr/>
        </p:nvSpPr>
        <p:spPr>
          <a:xfrm>
            <a:off x="1737360" y="309067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212080" y="309067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framework base: gestiona autenticación y autorización con una cadena de filtros.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" y="406908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051560" y="4325112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/>
          <p:nvPr/>
        </p:nvSpPr>
        <p:spPr>
          <a:xfrm>
            <a:off x="1737360" y="418795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5212080" y="418795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de autorización delegada: da acceso con tokens, sin compartir contraseñas.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77240" y="516636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051560" y="5422392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9" name="Text 16"/>
          <p:cNvSpPr/>
          <p:nvPr/>
        </p:nvSpPr>
        <p:spPr>
          <a:xfrm>
            <a:off x="1737360" y="528523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roles OAuth2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5212080" y="528523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(consume), Authorization Server (emite tokens), Resource Server (valida y protege).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Seguridad en el Desarrollo — Herramientas y Spring Security</dc:title>
  <dc:subject>PptxGenJS Presentation</dc:subject>
  <dc:creator>Orlando Ferreira Angon</dc:creator>
  <cp:lastModifiedBy>Orlando Ferreira Angon</cp:lastModifiedBy>
  <cp:revision>1</cp:revision>
  <dcterms:created xsi:type="dcterms:W3CDTF">2026-07-11T17:51:07Z</dcterms:created>
  <dcterms:modified xsi:type="dcterms:W3CDTF">2026-07-11T17:51:07Z</dcterms:modified>
</cp:coreProperties>
</file>